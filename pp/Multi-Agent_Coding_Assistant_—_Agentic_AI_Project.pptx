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516" y="-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1290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jpe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jpe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jpe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jpe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4.jpe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4813" y="875193"/>
            <a:ext cx="714375" cy="571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23355" y="1895884"/>
            <a:ext cx="6897291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3300" b="1" kern="0" spc="-1" dirty="0">
                <a:solidFill>
                  <a:srgbClr val="E0E0E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MULTI-AGENT CODING ASSISTANT</a:t>
            </a:r>
            <a:endParaRPr lang="en-US" sz="3300" dirty="0"/>
          </a:p>
        </p:txBody>
      </p:sp>
      <p:sp>
        <p:nvSpPr>
          <p:cNvPr id="5" name="Text 1"/>
          <p:cNvSpPr/>
          <p:nvPr/>
        </p:nvSpPr>
        <p:spPr>
          <a:xfrm>
            <a:off x="1123355" y="2708486"/>
            <a:ext cx="6429375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00F0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An AI-Powered System for Automated Code Generation, Testing &amp; Self-Healing</a:t>
            </a:r>
            <a:endParaRPr lang="en-US" sz="1700" dirty="0"/>
          </a:p>
        </p:txBody>
      </p:sp>
      <p:sp>
        <p:nvSpPr>
          <p:cNvPr id="6" name="Shape 2"/>
          <p:cNvSpPr/>
          <p:nvPr/>
        </p:nvSpPr>
        <p:spPr>
          <a:xfrm>
            <a:off x="1123355" y="3476439"/>
            <a:ext cx="6729413" cy="1149055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266230" y="3740758"/>
            <a:ext cx="314325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2" dirty="0">
                <a:solidFill>
                  <a:srgbClr val="700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1266230" y="3935425"/>
            <a:ext cx="3143250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Shayan Akram (14958)
Muhammad Ayan Husain (13905)
Syed Muhammad Faseh (14908)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4552355" y="3740758"/>
            <a:ext cx="314325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kern="0" spc="2" dirty="0">
                <a:solidFill>
                  <a:srgbClr val="700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COURSE INFORMATION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4552355" y="3935425"/>
            <a:ext cx="3143250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Agentic AI (Final Year Project)
Instructor: Dr. Farhan Mohsin
Class ID: 120055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0" y="4850606"/>
            <a:ext cx="9144000" cy="115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kern="0" spc="1" smtClean="0">
                <a:solidFill>
                  <a:srgbClr val="B0B0B0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 </a:t>
            </a:r>
            <a:r>
              <a:rPr lang="en-US" sz="750" kern="0" spc="1" dirty="0">
                <a:solidFill>
                  <a:srgbClr val="B0B0B0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© </a:t>
            </a:r>
            <a:r>
              <a:rPr lang="en-US" sz="750" kern="0" spc="1" dirty="0" smtClean="0">
                <a:solidFill>
                  <a:srgbClr val="B0B0B0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AGENTIC </a:t>
            </a:r>
            <a:r>
              <a:rPr lang="en-US" sz="750" kern="0" spc="1" dirty="0">
                <a:solidFill>
                  <a:srgbClr val="B0B0B0">
                    <a:alpha val="5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PROJECT</a:t>
            </a:r>
            <a:endParaRPr lang="en-US" sz="7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3287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" y="770381"/>
            <a:ext cx="91440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kern="0" spc="2" dirty="0">
                <a:solidFill>
                  <a:srgbClr val="E0E0E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PROBLEM STATEMENT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1057275" y="1806866"/>
            <a:ext cx="3500438" cy="1718072"/>
          </a:xfrm>
          <a:prstGeom prst="rect">
            <a:avLst/>
          </a:prstGeom>
          <a:solidFill>
            <a:srgbClr val="7000FF">
              <a:alpha val="5000"/>
            </a:srgbClr>
          </a:solidFill>
          <a:ln w="9144">
            <a:solidFill>
              <a:srgbClr val="7000FF">
                <a:alpha val="20000"/>
              </a:srgbClr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8725" y="1935454"/>
            <a:ext cx="214313" cy="285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28725" y="2492666"/>
            <a:ext cx="1375172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E0E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Time-consuming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1228725" y="2882001"/>
            <a:ext cx="315753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coding tools are passive. Developers must manually plan, debug, and review code, leading to slow development cycles.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4700588" y="1806866"/>
            <a:ext cx="3500438" cy="1718072"/>
          </a:xfrm>
          <a:prstGeom prst="rect">
            <a:avLst/>
          </a:prstGeom>
          <a:solidFill>
            <a:srgbClr val="7000FF">
              <a:alpha val="5000"/>
            </a:srgbClr>
          </a:solidFill>
          <a:ln w="9144">
            <a:solidFill>
              <a:srgbClr val="7000FF">
                <a:alpha val="20000"/>
              </a:srgbClr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2038" y="1935454"/>
            <a:ext cx="285750" cy="285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872038" y="2492666"/>
            <a:ext cx="1185863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E0E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Hard to Debug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4872038" y="2882001"/>
            <a:ext cx="315753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error tracking is inefficient. Identifying root causes in complex systems requires significant manual effort and time.</a:t>
            </a:r>
            <a:endParaRPr lang="en-US" sz="850" dirty="0"/>
          </a:p>
        </p:txBody>
      </p:sp>
      <p:sp>
        <p:nvSpPr>
          <p:cNvPr id="12" name="Shape 7"/>
          <p:cNvSpPr/>
          <p:nvPr/>
        </p:nvSpPr>
        <p:spPr>
          <a:xfrm>
            <a:off x="1057275" y="3653526"/>
            <a:ext cx="3500438" cy="1718072"/>
          </a:xfrm>
          <a:prstGeom prst="rect">
            <a:avLst/>
          </a:prstGeom>
          <a:solidFill>
            <a:srgbClr val="7000FF">
              <a:alpha val="5000"/>
            </a:srgbClr>
          </a:solidFill>
          <a:ln w="9144">
            <a:solidFill>
              <a:srgbClr val="7000FF">
                <a:alpha val="20000"/>
              </a:srgbClr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8725" y="3782113"/>
            <a:ext cx="285750" cy="2857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28725" y="4339326"/>
            <a:ext cx="1159073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E0E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Security Gaps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1228725" y="4728660"/>
            <a:ext cx="315753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Vulnerabilities often go unnoticed during manual reviews, creating potential risks that are hard to scale with traditional tools.</a:t>
            </a:r>
            <a:endParaRPr lang="en-US" sz="850" dirty="0"/>
          </a:p>
        </p:txBody>
      </p:sp>
      <p:sp>
        <p:nvSpPr>
          <p:cNvPr id="16" name="Shape 10"/>
          <p:cNvSpPr/>
          <p:nvPr/>
        </p:nvSpPr>
        <p:spPr>
          <a:xfrm>
            <a:off x="4700588" y="3653526"/>
            <a:ext cx="3500438" cy="1718072"/>
          </a:xfrm>
          <a:prstGeom prst="rect">
            <a:avLst/>
          </a:prstGeom>
          <a:solidFill>
            <a:srgbClr val="7000FF">
              <a:alpha val="5000"/>
            </a:srgbClr>
          </a:solidFill>
          <a:ln w="9144">
            <a:solidFill>
              <a:srgbClr val="7000FF">
                <a:alpha val="20000"/>
              </a:srgbClr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2038" y="3782113"/>
            <a:ext cx="357188" cy="28575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872038" y="4339326"/>
            <a:ext cx="1991320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E0E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Dependency Headaches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4872038" y="4728660"/>
            <a:ext cx="315753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package management and dependency resolution are tedious and error-prone, often leading to installation bottlenecks.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714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06087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kern="0" spc="2" dirty="0">
                <a:solidFill>
                  <a:srgbClr val="E0E0E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OUR SOLUTION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985460"/>
            <a:ext cx="3531050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Multi-Agent AI System powered by local LLMs (Ollama / Mistral) that automates the entire development lifecycle.</a:t>
            </a:r>
            <a:endParaRPr lang="en-US" sz="12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861770"/>
            <a:ext cx="142875" cy="1285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1531" y="2848375"/>
            <a:ext cx="130552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Planning</a:t>
            </a:r>
            <a:endParaRPr lang="en-US" sz="9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131446"/>
            <a:ext cx="142875" cy="12858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1531" y="3118052"/>
            <a:ext cx="1927027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Generation (Python, C++)</a:t>
            </a:r>
            <a:endParaRPr lang="en-US" sz="9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401123"/>
            <a:ext cx="142875" cy="12858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21531" y="3387728"/>
            <a:ext cx="1451967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&amp; Code Review</a:t>
            </a:r>
            <a:endParaRPr lang="en-US" sz="9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670799"/>
            <a:ext cx="142875" cy="12858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821531" y="3657405"/>
            <a:ext cx="1889522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Testing &amp; Execution</a:t>
            </a:r>
            <a:endParaRPr lang="en-US" sz="95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940476"/>
            <a:ext cx="142875" cy="128588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821531" y="3927081"/>
            <a:ext cx="1396603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Self-Healing (Fix Loop)</a:t>
            </a:r>
            <a:endParaRPr lang="en-US" sz="95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210152"/>
            <a:ext cx="142875" cy="128588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821531" y="4196758"/>
            <a:ext cx="163056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Documentation Generation</a:t>
            </a:r>
            <a:endParaRPr lang="en-US" sz="950" dirty="0"/>
          </a:p>
        </p:txBody>
      </p:sp>
      <p:sp>
        <p:nvSpPr>
          <p:cNvPr id="17" name="Shape 8"/>
          <p:cNvSpPr/>
          <p:nvPr/>
        </p:nvSpPr>
        <p:spPr>
          <a:xfrm>
            <a:off x="4102550" y="1814010"/>
            <a:ext cx="4469950" cy="2800350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8" name="Text 9"/>
          <p:cNvSpPr/>
          <p:nvPr/>
        </p:nvSpPr>
        <p:spPr>
          <a:xfrm>
            <a:off x="4395108" y="2350684"/>
            <a:ext cx="3891642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0E0E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AUTOMATED PIPELINE</a:t>
            </a:r>
            <a:endParaRPr lang="en-US" sz="1000" dirty="0"/>
          </a:p>
        </p:txBody>
      </p:sp>
      <p:sp>
        <p:nvSpPr>
          <p:cNvPr id="19" name="Shape 10"/>
          <p:cNvSpPr/>
          <p:nvPr/>
        </p:nvSpPr>
        <p:spPr>
          <a:xfrm>
            <a:off x="4395108" y="2675725"/>
            <a:ext cx="3891642" cy="280392"/>
          </a:xfrm>
          <a:prstGeom prst="rect">
            <a:avLst/>
          </a:prstGeom>
          <a:solidFill>
            <a:srgbClr val="00F0FF">
              <a:alpha val="5000"/>
            </a:srgbClr>
          </a:solidFill>
          <a:ln/>
        </p:spPr>
      </p:sp>
      <p:sp>
        <p:nvSpPr>
          <p:cNvPr id="20" name="Shape 11"/>
          <p:cNvSpPr/>
          <p:nvPr/>
        </p:nvSpPr>
        <p:spPr>
          <a:xfrm>
            <a:off x="4395108" y="2675725"/>
            <a:ext cx="28575" cy="280392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21" name="Text 12"/>
          <p:cNvSpPr/>
          <p:nvPr/>
        </p:nvSpPr>
        <p:spPr>
          <a:xfrm>
            <a:off x="4523696" y="2747163"/>
            <a:ext cx="111085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Planning &amp; Research</a:t>
            </a:r>
            <a:endParaRPr lang="en-US" sz="85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3863" y="2758771"/>
            <a:ext cx="114300" cy="114300"/>
          </a:xfrm>
          <a:prstGeom prst="rect">
            <a:avLst/>
          </a:prstGeom>
        </p:spPr>
      </p:pic>
      <p:sp>
        <p:nvSpPr>
          <p:cNvPr id="23" name="Shape 13"/>
          <p:cNvSpPr/>
          <p:nvPr/>
        </p:nvSpPr>
        <p:spPr>
          <a:xfrm>
            <a:off x="4395108" y="3041842"/>
            <a:ext cx="3891642" cy="280392"/>
          </a:xfrm>
          <a:prstGeom prst="rect">
            <a:avLst/>
          </a:prstGeom>
          <a:solidFill>
            <a:srgbClr val="00F0FF">
              <a:alpha val="5000"/>
            </a:srgbClr>
          </a:solidFill>
          <a:ln/>
        </p:spPr>
      </p:sp>
      <p:sp>
        <p:nvSpPr>
          <p:cNvPr id="24" name="Shape 14"/>
          <p:cNvSpPr/>
          <p:nvPr/>
        </p:nvSpPr>
        <p:spPr>
          <a:xfrm>
            <a:off x="4395108" y="3041842"/>
            <a:ext cx="28575" cy="280392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25" name="Text 15"/>
          <p:cNvSpPr/>
          <p:nvPr/>
        </p:nvSpPr>
        <p:spPr>
          <a:xfrm>
            <a:off x="4523696" y="3113280"/>
            <a:ext cx="1432322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Multi-file Code Generation</a:t>
            </a:r>
            <a:endParaRPr lang="en-US" sz="85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15288" y="3124888"/>
            <a:ext cx="142875" cy="114300"/>
          </a:xfrm>
          <a:prstGeom prst="rect">
            <a:avLst/>
          </a:prstGeom>
        </p:spPr>
      </p:pic>
      <p:sp>
        <p:nvSpPr>
          <p:cNvPr id="27" name="Shape 16"/>
          <p:cNvSpPr/>
          <p:nvPr/>
        </p:nvSpPr>
        <p:spPr>
          <a:xfrm>
            <a:off x="4395108" y="3407959"/>
            <a:ext cx="3891642" cy="280392"/>
          </a:xfrm>
          <a:prstGeom prst="rect">
            <a:avLst/>
          </a:prstGeom>
          <a:solidFill>
            <a:srgbClr val="00F0FF">
              <a:alpha val="5000"/>
            </a:srgbClr>
          </a:solidFill>
          <a:ln/>
        </p:spPr>
      </p:sp>
      <p:sp>
        <p:nvSpPr>
          <p:cNvPr id="28" name="Shape 17"/>
          <p:cNvSpPr/>
          <p:nvPr/>
        </p:nvSpPr>
        <p:spPr>
          <a:xfrm>
            <a:off x="4395108" y="3407959"/>
            <a:ext cx="28575" cy="280392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29" name="Text 18"/>
          <p:cNvSpPr/>
          <p:nvPr/>
        </p:nvSpPr>
        <p:spPr>
          <a:xfrm>
            <a:off x="4523696" y="3479397"/>
            <a:ext cx="121800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&amp; Bug Review</a:t>
            </a:r>
            <a:endParaRPr lang="en-US" sz="850" dirty="0"/>
          </a:p>
        </p:txBody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3863" y="3491006"/>
            <a:ext cx="114300" cy="114300"/>
          </a:xfrm>
          <a:prstGeom prst="rect">
            <a:avLst/>
          </a:prstGeom>
        </p:spPr>
      </p:pic>
      <p:sp>
        <p:nvSpPr>
          <p:cNvPr id="31" name="Shape 19"/>
          <p:cNvSpPr/>
          <p:nvPr/>
        </p:nvSpPr>
        <p:spPr>
          <a:xfrm>
            <a:off x="4395108" y="3774077"/>
            <a:ext cx="3891642" cy="280392"/>
          </a:xfrm>
          <a:prstGeom prst="rect">
            <a:avLst/>
          </a:prstGeom>
          <a:solidFill>
            <a:srgbClr val="00F0FF">
              <a:alpha val="5000"/>
            </a:srgbClr>
          </a:solidFill>
          <a:ln/>
        </p:spPr>
      </p:sp>
      <p:sp>
        <p:nvSpPr>
          <p:cNvPr id="32" name="Shape 20"/>
          <p:cNvSpPr/>
          <p:nvPr/>
        </p:nvSpPr>
        <p:spPr>
          <a:xfrm>
            <a:off x="4395108" y="3774077"/>
            <a:ext cx="28575" cy="280392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33" name="Text 21"/>
          <p:cNvSpPr/>
          <p:nvPr/>
        </p:nvSpPr>
        <p:spPr>
          <a:xfrm>
            <a:off x="4523696" y="3845514"/>
            <a:ext cx="90011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Sandbox Testing</a:t>
            </a:r>
            <a:endParaRPr lang="en-US" sz="850" dirty="0"/>
          </a:p>
        </p:txBody>
      </p:sp>
      <p:pic>
        <p:nvPicPr>
          <p:cNvPr id="34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43863" y="3857123"/>
            <a:ext cx="114300" cy="114300"/>
          </a:xfrm>
          <a:prstGeom prst="rect">
            <a:avLst/>
          </a:prstGeom>
        </p:spPr>
      </p:pic>
      <p:sp>
        <p:nvSpPr>
          <p:cNvPr id="35" name="Shape 22"/>
          <p:cNvSpPr/>
          <p:nvPr/>
        </p:nvSpPr>
        <p:spPr>
          <a:xfrm>
            <a:off x="4395108" y="4140194"/>
            <a:ext cx="3891642" cy="280392"/>
          </a:xfrm>
          <a:prstGeom prst="rect">
            <a:avLst/>
          </a:prstGeom>
          <a:solidFill>
            <a:srgbClr val="00F0FF">
              <a:alpha val="5000"/>
            </a:srgbClr>
          </a:solidFill>
          <a:ln/>
        </p:spPr>
      </p:sp>
      <p:sp>
        <p:nvSpPr>
          <p:cNvPr id="36" name="Shape 23"/>
          <p:cNvSpPr/>
          <p:nvPr/>
        </p:nvSpPr>
        <p:spPr>
          <a:xfrm>
            <a:off x="4395108" y="4140194"/>
            <a:ext cx="28575" cy="280392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37" name="Text 24"/>
          <p:cNvSpPr/>
          <p:nvPr/>
        </p:nvSpPr>
        <p:spPr>
          <a:xfrm>
            <a:off x="4523696" y="4211631"/>
            <a:ext cx="973336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Self-Healing Loop</a:t>
            </a:r>
            <a:endParaRPr lang="en-US" sz="850" dirty="0"/>
          </a:p>
        </p:txBody>
      </p:sp>
      <p:pic>
        <p:nvPicPr>
          <p:cNvPr id="38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43863" y="4223240"/>
            <a:ext cx="114300" cy="1143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" y="663364"/>
            <a:ext cx="9144000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100" b="1" kern="0" spc="2" dirty="0">
                <a:solidFill>
                  <a:srgbClr val="E0E0E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SYSTEM ARCHITECTURE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700088" y="1408881"/>
            <a:ext cx="1910953" cy="1017259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00F0FF">
                <a:alpha val="2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419945" y="1466031"/>
            <a:ext cx="10537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0F0FF">
                    <a:alpha val="50000"/>
                  </a:srgbClr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01</a:t>
            </a:r>
            <a:endParaRPr lang="en-US" sz="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480319"/>
            <a:ext cx="171450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5813" y="1823219"/>
            <a:ext cx="1739503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0E0E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Research Agent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785813" y="2080394"/>
            <a:ext cx="1739503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DuckDuckGo Web Search for up-to-date documentation.</a:t>
            </a:r>
            <a:endParaRPr lang="en-US" sz="650" dirty="0"/>
          </a:p>
        </p:txBody>
      </p:sp>
      <p:sp>
        <p:nvSpPr>
          <p:cNvPr id="9" name="Shape 5"/>
          <p:cNvSpPr/>
          <p:nvPr/>
        </p:nvSpPr>
        <p:spPr>
          <a:xfrm>
            <a:off x="2682478" y="1408881"/>
            <a:ext cx="1910953" cy="1017259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00F0FF">
                <a:alpha val="2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382691" y="1466031"/>
            <a:ext cx="12501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0F0FF">
                    <a:alpha val="50000"/>
                  </a:srgbClr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02</a:t>
            </a:r>
            <a:endParaRPr lang="en-US" sz="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8203" y="1480319"/>
            <a:ext cx="192881" cy="1714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768203" y="1823219"/>
            <a:ext cx="1739503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0E0E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Planner Agent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2768203" y="2080394"/>
            <a:ext cx="1739503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planning and file structure mapping.</a:t>
            </a:r>
            <a:endParaRPr lang="en-US" sz="650" dirty="0"/>
          </a:p>
        </p:txBody>
      </p:sp>
      <p:sp>
        <p:nvSpPr>
          <p:cNvPr id="14" name="Shape 9"/>
          <p:cNvSpPr/>
          <p:nvPr/>
        </p:nvSpPr>
        <p:spPr>
          <a:xfrm>
            <a:off x="4664869" y="1408881"/>
            <a:ext cx="1910953" cy="1017259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00F0FF">
                <a:alpha val="20000"/>
              </a:srgbClr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365081" y="1466031"/>
            <a:ext cx="12501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0F0FF">
                    <a:alpha val="50000"/>
                  </a:srgbClr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03</a:t>
            </a:r>
            <a:endParaRPr lang="en-US" sz="7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0594" y="1480319"/>
            <a:ext cx="214313" cy="1714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750594" y="1823219"/>
            <a:ext cx="1739503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0E0E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Code Agent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4750594" y="2080394"/>
            <a:ext cx="1739503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Multi-file &amp; multi-language code generation.</a:t>
            </a:r>
            <a:endParaRPr lang="en-US" sz="650" dirty="0"/>
          </a:p>
        </p:txBody>
      </p:sp>
      <p:sp>
        <p:nvSpPr>
          <p:cNvPr id="19" name="Shape 13"/>
          <p:cNvSpPr/>
          <p:nvPr/>
        </p:nvSpPr>
        <p:spPr>
          <a:xfrm>
            <a:off x="6647259" y="1408881"/>
            <a:ext cx="1910953" cy="1014413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00F0FF">
                <a:alpha val="20000"/>
              </a:srgbClr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8345686" y="1466031"/>
            <a:ext cx="12680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0F0FF">
                    <a:alpha val="50000"/>
                  </a:srgbClr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04</a:t>
            </a:r>
            <a:endParaRPr lang="en-US" sz="75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2984" y="1480319"/>
            <a:ext cx="214313" cy="17145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732984" y="1823219"/>
            <a:ext cx="1739503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0E0E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Review Agent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6732984" y="2080394"/>
            <a:ext cx="1739503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audit and logic bug detection.</a:t>
            </a:r>
            <a:endParaRPr lang="en-US" sz="650" dirty="0"/>
          </a:p>
        </p:txBody>
      </p:sp>
      <p:sp>
        <p:nvSpPr>
          <p:cNvPr id="24" name="Shape 17"/>
          <p:cNvSpPr/>
          <p:nvPr/>
        </p:nvSpPr>
        <p:spPr>
          <a:xfrm>
            <a:off x="700088" y="2483290"/>
            <a:ext cx="1910953" cy="1017259"/>
          </a:xfrm>
          <a:prstGeom prst="rect">
            <a:avLst/>
          </a:prstGeom>
          <a:solidFill>
            <a:srgbClr val="7000FF">
              <a:alpha val="5000"/>
            </a:srgbClr>
          </a:solidFill>
          <a:ln w="9144">
            <a:solidFill>
              <a:srgbClr val="7000FF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2402086" y="2540440"/>
            <a:ext cx="12323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0F0FF">
                    <a:alpha val="50000"/>
                  </a:srgbClr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05</a:t>
            </a:r>
            <a:endParaRPr lang="en-US" sz="75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5813" y="2554728"/>
            <a:ext cx="171450" cy="17145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85813" y="2897628"/>
            <a:ext cx="1739503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0E0E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Test Agent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785813" y="3154803"/>
            <a:ext cx="1739503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Sandbox execution and output verification.</a:t>
            </a:r>
            <a:endParaRPr lang="en-US" sz="650" dirty="0"/>
          </a:p>
        </p:txBody>
      </p:sp>
      <p:sp>
        <p:nvSpPr>
          <p:cNvPr id="29" name="Shape 21"/>
          <p:cNvSpPr/>
          <p:nvPr/>
        </p:nvSpPr>
        <p:spPr>
          <a:xfrm>
            <a:off x="2682478" y="2483290"/>
            <a:ext cx="1910953" cy="1017259"/>
          </a:xfrm>
          <a:prstGeom prst="rect">
            <a:avLst/>
          </a:prstGeom>
          <a:solidFill>
            <a:srgbClr val="7000FF">
              <a:alpha val="5000"/>
            </a:srgbClr>
          </a:solidFill>
          <a:ln w="9144">
            <a:solidFill>
              <a:srgbClr val="7000FF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4382691" y="2540440"/>
            <a:ext cx="12501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0F0FF">
                    <a:alpha val="50000"/>
                  </a:srgbClr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06</a:t>
            </a:r>
            <a:endParaRPr lang="en-US" sz="75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68203" y="2554728"/>
            <a:ext cx="150019" cy="17145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2768203" y="2897628"/>
            <a:ext cx="1739503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0E0E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Dependency Agent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2768203" y="3154803"/>
            <a:ext cx="1739503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 pip-install on ImportError detection.</a:t>
            </a:r>
            <a:endParaRPr lang="en-US" sz="650" dirty="0"/>
          </a:p>
        </p:txBody>
      </p:sp>
      <p:sp>
        <p:nvSpPr>
          <p:cNvPr id="34" name="Shape 25"/>
          <p:cNvSpPr/>
          <p:nvPr/>
        </p:nvSpPr>
        <p:spPr>
          <a:xfrm>
            <a:off x="4664869" y="2483290"/>
            <a:ext cx="1910953" cy="1017259"/>
          </a:xfrm>
          <a:prstGeom prst="rect">
            <a:avLst/>
          </a:prstGeom>
          <a:solidFill>
            <a:srgbClr val="7000FF">
              <a:alpha val="5000"/>
            </a:srgbClr>
          </a:solidFill>
          <a:ln w="9144">
            <a:solidFill>
              <a:srgbClr val="7000FF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6370439" y="2540440"/>
            <a:ext cx="11965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0F0FF">
                    <a:alpha val="50000"/>
                  </a:srgbClr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07</a:t>
            </a:r>
            <a:endParaRPr lang="en-US" sz="750" dirty="0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0594" y="2554728"/>
            <a:ext cx="171450" cy="17145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4750594" y="2897628"/>
            <a:ext cx="1739503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0E0E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Fix Agent</a:t>
            </a:r>
            <a:endParaRPr lang="en-US" sz="900" dirty="0"/>
          </a:p>
        </p:txBody>
      </p:sp>
      <p:sp>
        <p:nvSpPr>
          <p:cNvPr id="38" name="Text 28"/>
          <p:cNvSpPr/>
          <p:nvPr/>
        </p:nvSpPr>
        <p:spPr>
          <a:xfrm>
            <a:off x="4750594" y="3154803"/>
            <a:ext cx="1739503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Self-healing loop with up to 3 retry attempts.</a:t>
            </a:r>
            <a:endParaRPr lang="en-US" sz="650" dirty="0"/>
          </a:p>
        </p:txBody>
      </p:sp>
      <p:sp>
        <p:nvSpPr>
          <p:cNvPr id="39" name="Shape 29"/>
          <p:cNvSpPr/>
          <p:nvPr/>
        </p:nvSpPr>
        <p:spPr>
          <a:xfrm>
            <a:off x="6647259" y="2483290"/>
            <a:ext cx="1910953" cy="1017259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00F0FF">
                <a:alpha val="20000"/>
              </a:srgbClr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8345686" y="2540440"/>
            <a:ext cx="12680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00F0FF">
                    <a:alpha val="50000"/>
                  </a:srgbClr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08</a:t>
            </a:r>
            <a:endParaRPr lang="en-US" sz="750" dirty="0"/>
          </a:p>
        </p:txBody>
      </p:sp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32984" y="2554728"/>
            <a:ext cx="128588" cy="171450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6732984" y="2897628"/>
            <a:ext cx="1739503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0E0E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Docs Agent</a:t>
            </a:r>
            <a:endParaRPr lang="en-US" sz="900" dirty="0"/>
          </a:p>
        </p:txBody>
      </p:sp>
      <p:sp>
        <p:nvSpPr>
          <p:cNvPr id="43" name="Text 32"/>
          <p:cNvSpPr/>
          <p:nvPr/>
        </p:nvSpPr>
        <p:spPr>
          <a:xfrm>
            <a:off x="6732984" y="3154803"/>
            <a:ext cx="1739503" cy="26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6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README.md and project documentation.</a:t>
            </a:r>
            <a:endParaRPr lang="en-US" sz="650" dirty="0"/>
          </a:p>
        </p:txBody>
      </p:sp>
      <p:sp>
        <p:nvSpPr>
          <p:cNvPr id="44" name="Shape 33"/>
          <p:cNvSpPr/>
          <p:nvPr/>
        </p:nvSpPr>
        <p:spPr>
          <a:xfrm>
            <a:off x="685800" y="3571987"/>
            <a:ext cx="7886700" cy="24288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5" name="Shape 34"/>
          <p:cNvSpPr/>
          <p:nvPr/>
        </p:nvSpPr>
        <p:spPr>
          <a:xfrm>
            <a:off x="8558213" y="3571987"/>
            <a:ext cx="14288" cy="242888"/>
          </a:xfrm>
          <a:prstGeom prst="rect">
            <a:avLst/>
          </a:prstGeom>
          <a:solidFill>
            <a:srgbClr val="7000FF"/>
          </a:solidFill>
          <a:ln/>
        </p:spPr>
      </p:sp>
      <p:sp>
        <p:nvSpPr>
          <p:cNvPr id="46" name="Shape 35"/>
          <p:cNvSpPr/>
          <p:nvPr/>
        </p:nvSpPr>
        <p:spPr>
          <a:xfrm>
            <a:off x="685800" y="3800587"/>
            <a:ext cx="7886700" cy="14288"/>
          </a:xfrm>
          <a:prstGeom prst="rect">
            <a:avLst/>
          </a:prstGeom>
          <a:solidFill>
            <a:srgbClr val="7000FF"/>
          </a:solidFill>
          <a:ln/>
        </p:spPr>
      </p:sp>
      <p:sp>
        <p:nvSpPr>
          <p:cNvPr id="47" name="Shape 36"/>
          <p:cNvSpPr/>
          <p:nvPr/>
        </p:nvSpPr>
        <p:spPr>
          <a:xfrm>
            <a:off x="685800" y="3571987"/>
            <a:ext cx="14288" cy="242888"/>
          </a:xfrm>
          <a:prstGeom prst="rect">
            <a:avLst/>
          </a:prstGeom>
          <a:solidFill>
            <a:srgbClr val="7000FF"/>
          </a:solidFill>
          <a:ln/>
        </p:spPr>
      </p:sp>
      <p:pic>
        <p:nvPicPr>
          <p:cNvPr id="48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41502" y="3802373"/>
            <a:ext cx="107156" cy="100013"/>
          </a:xfrm>
          <a:prstGeom prst="rect">
            <a:avLst/>
          </a:prstGeom>
        </p:spPr>
      </p:pic>
      <p:sp>
        <p:nvSpPr>
          <p:cNvPr id="49" name="Text 37"/>
          <p:cNvSpPr/>
          <p:nvPr/>
        </p:nvSpPr>
        <p:spPr>
          <a:xfrm>
            <a:off x="3548658" y="3793443"/>
            <a:ext cx="226814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700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AUTONOMOUS SELF-CORRECTION LOOP</a:t>
            </a:r>
            <a:endParaRPr lang="en-US" sz="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770381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kern="0" spc="2" dirty="0">
                <a:solidFill>
                  <a:srgbClr val="E0E0E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KEY FEATURES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628650" y="1735429"/>
            <a:ext cx="2609841" cy="1300163"/>
          </a:xfrm>
          <a:prstGeom prst="rect">
            <a:avLst/>
          </a:prstGeom>
          <a:solidFill>
            <a:srgbClr val="7000FF">
              <a:alpha val="3000"/>
            </a:srgbClr>
          </a:solidFill>
          <a:ln w="9144">
            <a:solidFill>
              <a:srgbClr val="00F0FF">
                <a:alpha val="10000"/>
              </a:srgbClr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238" y="1849729"/>
            <a:ext cx="257175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57238" y="2306929"/>
            <a:ext cx="2352666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0E0E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ARCHITECTURE PLANNING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757238" y="2589107"/>
            <a:ext cx="235266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Maps complex file structures and logic flows before a single line of code is written.</a:t>
            </a:r>
            <a:endParaRPr lang="en-US" sz="750" dirty="0"/>
          </a:p>
        </p:txBody>
      </p:sp>
      <p:sp>
        <p:nvSpPr>
          <p:cNvPr id="8" name="Shape 4"/>
          <p:cNvSpPr/>
          <p:nvPr/>
        </p:nvSpPr>
        <p:spPr>
          <a:xfrm>
            <a:off x="3324216" y="1735429"/>
            <a:ext cx="2609841" cy="1300163"/>
          </a:xfrm>
          <a:prstGeom prst="rect">
            <a:avLst/>
          </a:prstGeom>
          <a:solidFill>
            <a:srgbClr val="7000FF">
              <a:alpha val="3000"/>
            </a:srgbClr>
          </a:solidFill>
          <a:ln w="9144">
            <a:solidFill>
              <a:srgbClr val="00F0FF">
                <a:alpha val="10000"/>
              </a:srgbClr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2803" y="1849729"/>
            <a:ext cx="22860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452803" y="2306929"/>
            <a:ext cx="2352666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0E0E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WEB RESEARCH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3452803" y="2589107"/>
            <a:ext cx="235266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DuckDuckGo integration for up-to-date documentation and API references.</a:t>
            </a:r>
            <a:endParaRPr lang="en-US" sz="750" dirty="0"/>
          </a:p>
        </p:txBody>
      </p:sp>
      <p:sp>
        <p:nvSpPr>
          <p:cNvPr id="12" name="Shape 7"/>
          <p:cNvSpPr/>
          <p:nvPr/>
        </p:nvSpPr>
        <p:spPr>
          <a:xfrm>
            <a:off x="6019781" y="1735429"/>
            <a:ext cx="2609869" cy="1300163"/>
          </a:xfrm>
          <a:prstGeom prst="rect">
            <a:avLst/>
          </a:prstGeom>
          <a:solidFill>
            <a:srgbClr val="7000FF">
              <a:alpha val="3000"/>
            </a:srgbClr>
          </a:solidFill>
          <a:ln w="9144">
            <a:solidFill>
              <a:srgbClr val="00F0FF">
                <a:alpha val="10000"/>
              </a:srgbClr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8369" y="1849729"/>
            <a:ext cx="28575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148369" y="2306929"/>
            <a:ext cx="2352694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0E0E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MULTI-LANGUAGE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6148369" y="2589107"/>
            <a:ext cx="2352694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support for Python, C++, and more, handling multi-file project structures.</a:t>
            </a:r>
            <a:endParaRPr lang="en-US" sz="750" dirty="0"/>
          </a:p>
        </p:txBody>
      </p:sp>
      <p:sp>
        <p:nvSpPr>
          <p:cNvPr id="16" name="Shape 10"/>
          <p:cNvSpPr/>
          <p:nvPr/>
        </p:nvSpPr>
        <p:spPr>
          <a:xfrm>
            <a:off x="628650" y="3107029"/>
            <a:ext cx="2609841" cy="1300163"/>
          </a:xfrm>
          <a:prstGeom prst="rect">
            <a:avLst/>
          </a:prstGeom>
          <a:solidFill>
            <a:srgbClr val="7000FF">
              <a:alpha val="3000"/>
            </a:srgbClr>
          </a:solidFill>
          <a:ln w="9144">
            <a:solidFill>
              <a:srgbClr val="00F0FF">
                <a:alpha val="10000"/>
              </a:srgbClr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7238" y="3221329"/>
            <a:ext cx="285750" cy="2286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57238" y="3678529"/>
            <a:ext cx="2352666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0E0E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SECURITY REVIEW</a:t>
            </a:r>
            <a:endParaRPr lang="en-US" sz="1000" dirty="0"/>
          </a:p>
        </p:txBody>
      </p:sp>
      <p:sp>
        <p:nvSpPr>
          <p:cNvPr id="19" name="Text 12"/>
          <p:cNvSpPr/>
          <p:nvPr/>
        </p:nvSpPr>
        <p:spPr>
          <a:xfrm>
            <a:off x="757238" y="3960707"/>
            <a:ext cx="235266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vulnerability detection and refactoring to ensure production-grade code.</a:t>
            </a:r>
            <a:endParaRPr lang="en-US" sz="750" dirty="0"/>
          </a:p>
        </p:txBody>
      </p:sp>
      <p:sp>
        <p:nvSpPr>
          <p:cNvPr id="20" name="Shape 13"/>
          <p:cNvSpPr/>
          <p:nvPr/>
        </p:nvSpPr>
        <p:spPr>
          <a:xfrm>
            <a:off x="3324216" y="3107029"/>
            <a:ext cx="2609841" cy="1300163"/>
          </a:xfrm>
          <a:prstGeom prst="rect">
            <a:avLst/>
          </a:prstGeom>
          <a:solidFill>
            <a:srgbClr val="7000FF">
              <a:alpha val="3000"/>
            </a:srgbClr>
          </a:solidFill>
          <a:ln w="9144">
            <a:solidFill>
              <a:srgbClr val="00F0FF">
                <a:alpha val="10000"/>
              </a:srgbClr>
            </a:solidFill>
            <a:prstDash val="solid"/>
          </a:ln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52803" y="3221329"/>
            <a:ext cx="228600" cy="2286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3452803" y="3678529"/>
            <a:ext cx="2352666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0E0E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SELF-CORRECTION</a:t>
            </a:r>
            <a:endParaRPr lang="en-US" sz="1000" dirty="0"/>
          </a:p>
        </p:txBody>
      </p:sp>
      <p:sp>
        <p:nvSpPr>
          <p:cNvPr id="23" name="Text 15"/>
          <p:cNvSpPr/>
          <p:nvPr/>
        </p:nvSpPr>
        <p:spPr>
          <a:xfrm>
            <a:off x="3452803" y="3960707"/>
            <a:ext cx="235266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Innovative 3-retry loop that tests code and feeds errors back to the Fix Agent.</a:t>
            </a:r>
            <a:endParaRPr lang="en-US" sz="750" dirty="0"/>
          </a:p>
        </p:txBody>
      </p:sp>
      <p:sp>
        <p:nvSpPr>
          <p:cNvPr id="24" name="Shape 16"/>
          <p:cNvSpPr/>
          <p:nvPr/>
        </p:nvSpPr>
        <p:spPr>
          <a:xfrm>
            <a:off x="6019781" y="3107029"/>
            <a:ext cx="2609869" cy="1300163"/>
          </a:xfrm>
          <a:prstGeom prst="rect">
            <a:avLst/>
          </a:prstGeom>
          <a:solidFill>
            <a:srgbClr val="7000FF">
              <a:alpha val="3000"/>
            </a:srgbClr>
          </a:solidFill>
          <a:ln w="9144">
            <a:solidFill>
              <a:srgbClr val="00F0FF">
                <a:alpha val="10000"/>
              </a:srgbClr>
            </a:solidFill>
            <a:prstDash val="solid"/>
          </a:ln>
        </p:spPr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48369" y="3221329"/>
            <a:ext cx="228600" cy="22860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148369" y="3678529"/>
            <a:ext cx="2352694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0E0E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PROJECT ARCHIVE</a:t>
            </a:r>
            <a:endParaRPr lang="en-US" sz="1000" dirty="0"/>
          </a:p>
        </p:txBody>
      </p:sp>
      <p:sp>
        <p:nvSpPr>
          <p:cNvPr id="27" name="Text 18"/>
          <p:cNvSpPr/>
          <p:nvPr/>
        </p:nvSpPr>
        <p:spPr>
          <a:xfrm>
            <a:off x="6148369" y="3960707"/>
            <a:ext cx="2352694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history tracking with instant ZIP exports for all generated projects.</a:t>
            </a:r>
            <a:endParaRPr lang="en-US" sz="7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713231"/>
            <a:ext cx="91440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kern="0" spc="2" dirty="0">
                <a:solidFill>
                  <a:srgbClr val="E0E0E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TECHNOLOGY STACK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642938" y="1578266"/>
            <a:ext cx="2543175" cy="1271588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4506" y="1621129"/>
            <a:ext cx="300038" cy="3429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05558" y="2049754"/>
            <a:ext cx="61793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kern="0" spc="1" dirty="0">
                <a:solidFill>
                  <a:srgbClr val="7000FF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BACKEND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1452860" y="2271210"/>
            <a:ext cx="923330" cy="188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100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Core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247477" y="2502657"/>
            <a:ext cx="133409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Logic &amp; Agent Orchestration</a:t>
            </a:r>
            <a:endParaRPr lang="en-US" sz="750" dirty="0"/>
          </a:p>
        </p:txBody>
      </p:sp>
      <p:sp>
        <p:nvSpPr>
          <p:cNvPr id="9" name="Shape 5"/>
          <p:cNvSpPr/>
          <p:nvPr/>
        </p:nvSpPr>
        <p:spPr>
          <a:xfrm>
            <a:off x="3300413" y="1578266"/>
            <a:ext cx="2543175" cy="1271588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0550" y="1621129"/>
            <a:ext cx="342900" cy="3429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206776" y="2049754"/>
            <a:ext cx="73044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kern="0" spc="1" dirty="0">
                <a:solidFill>
                  <a:srgbClr val="7000FF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LOCAL LLM</a:t>
            </a:r>
            <a:endParaRPr lang="en-US" sz="950" dirty="0"/>
          </a:p>
        </p:txBody>
      </p:sp>
      <p:sp>
        <p:nvSpPr>
          <p:cNvPr id="12" name="Text 7"/>
          <p:cNvSpPr/>
          <p:nvPr/>
        </p:nvSpPr>
        <p:spPr>
          <a:xfrm>
            <a:off x="3996035" y="2271210"/>
            <a:ext cx="1151930" cy="188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100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Ollama / Mistral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3896916" y="2502657"/>
            <a:ext cx="135016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Privacy-focused Intelligence</a:t>
            </a:r>
            <a:endParaRPr lang="en-US" sz="750" dirty="0"/>
          </a:p>
        </p:txBody>
      </p:sp>
      <p:sp>
        <p:nvSpPr>
          <p:cNvPr id="14" name="Shape 9"/>
          <p:cNvSpPr/>
          <p:nvPr/>
        </p:nvSpPr>
        <p:spPr>
          <a:xfrm>
            <a:off x="5957888" y="1578266"/>
            <a:ext cx="2543175" cy="1271588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6594" y="1621129"/>
            <a:ext cx="385763" cy="3429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880324" y="2049754"/>
            <a:ext cx="698302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kern="0" spc="1" dirty="0">
                <a:solidFill>
                  <a:srgbClr val="7000FF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FRONTEND</a:t>
            </a:r>
            <a:endParaRPr lang="en-US" sz="950" dirty="0"/>
          </a:p>
        </p:txBody>
      </p:sp>
      <p:sp>
        <p:nvSpPr>
          <p:cNvPr id="17" name="Text 11"/>
          <p:cNvSpPr/>
          <p:nvPr/>
        </p:nvSpPr>
        <p:spPr>
          <a:xfrm>
            <a:off x="6902648" y="2271210"/>
            <a:ext cx="653653" cy="188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100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Streamlit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6636544" y="2502657"/>
            <a:ext cx="118586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Web Interface</a:t>
            </a:r>
            <a:endParaRPr lang="en-US" sz="750" dirty="0"/>
          </a:p>
        </p:txBody>
      </p:sp>
      <p:sp>
        <p:nvSpPr>
          <p:cNvPr id="19" name="Shape 13"/>
          <p:cNvSpPr/>
          <p:nvPr/>
        </p:nvSpPr>
        <p:spPr>
          <a:xfrm>
            <a:off x="642938" y="2949866"/>
            <a:ext cx="2543175" cy="1271588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43075" y="2992729"/>
            <a:ext cx="342900" cy="3429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529655" y="3421354"/>
            <a:ext cx="76973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kern="0" spc="1" dirty="0">
                <a:solidFill>
                  <a:srgbClr val="7000FF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SEARCH API</a:t>
            </a:r>
            <a:endParaRPr lang="en-US" sz="950" dirty="0"/>
          </a:p>
        </p:txBody>
      </p:sp>
      <p:sp>
        <p:nvSpPr>
          <p:cNvPr id="22" name="Text 15"/>
          <p:cNvSpPr/>
          <p:nvPr/>
        </p:nvSpPr>
        <p:spPr>
          <a:xfrm>
            <a:off x="1426071" y="3642810"/>
            <a:ext cx="976908" cy="188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100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DuckDuckGo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1331416" y="3874257"/>
            <a:ext cx="1166217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Web Research</a:t>
            </a:r>
            <a:endParaRPr lang="en-US" sz="750" dirty="0"/>
          </a:p>
        </p:txBody>
      </p:sp>
      <p:sp>
        <p:nvSpPr>
          <p:cNvPr id="24" name="Shape 17"/>
          <p:cNvSpPr/>
          <p:nvPr/>
        </p:nvSpPr>
        <p:spPr>
          <a:xfrm>
            <a:off x="3300413" y="2949866"/>
            <a:ext cx="2543175" cy="1271588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43413" y="2992729"/>
            <a:ext cx="257175" cy="3429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083546" y="3421354"/>
            <a:ext cx="97690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kern="0" spc="1" dirty="0">
                <a:solidFill>
                  <a:srgbClr val="7000FF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CONCURRENCY</a:t>
            </a:r>
            <a:endParaRPr lang="en-US" sz="950" dirty="0"/>
          </a:p>
        </p:txBody>
      </p:sp>
      <p:sp>
        <p:nvSpPr>
          <p:cNvPr id="27" name="Text 19"/>
          <p:cNvSpPr/>
          <p:nvPr/>
        </p:nvSpPr>
        <p:spPr>
          <a:xfrm>
            <a:off x="3992463" y="3642810"/>
            <a:ext cx="1159073" cy="188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100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Asyncio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3996928" y="3874257"/>
            <a:ext cx="11501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Parallel Agent Execution</a:t>
            </a:r>
            <a:endParaRPr lang="en-US" sz="750" dirty="0"/>
          </a:p>
        </p:txBody>
      </p:sp>
      <p:sp>
        <p:nvSpPr>
          <p:cNvPr id="29" name="Shape 21"/>
          <p:cNvSpPr/>
          <p:nvPr/>
        </p:nvSpPr>
        <p:spPr>
          <a:xfrm>
            <a:off x="5957888" y="2949866"/>
            <a:ext cx="2543175" cy="1271588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79456" y="2992729"/>
            <a:ext cx="300038" cy="34290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930330" y="3421354"/>
            <a:ext cx="59828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kern="0" spc="1" dirty="0">
                <a:solidFill>
                  <a:srgbClr val="7000FF"/>
                </a:solidFill>
                <a:latin typeface="Space Grotesk Light" pitchFamily="34" charset="0"/>
                <a:ea typeface="Space Grotesk Light" pitchFamily="34" charset="-122"/>
                <a:cs typeface="Space Grotesk Light" pitchFamily="34" charset="-120"/>
              </a:rPr>
              <a:t>STORAGE</a:t>
            </a:r>
            <a:endParaRPr lang="en-US" sz="950" dirty="0"/>
          </a:p>
        </p:txBody>
      </p:sp>
      <p:sp>
        <p:nvSpPr>
          <p:cNvPr id="32" name="Text 23"/>
          <p:cNvSpPr/>
          <p:nvPr/>
        </p:nvSpPr>
        <p:spPr>
          <a:xfrm>
            <a:off x="6612434" y="3642810"/>
            <a:ext cx="1234083" cy="1885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100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Filesystem</a:t>
            </a:r>
            <a:endParaRPr lang="en-US" sz="1100" dirty="0"/>
          </a:p>
        </p:txBody>
      </p:sp>
      <p:sp>
        <p:nvSpPr>
          <p:cNvPr id="33" name="Text 24"/>
          <p:cNvSpPr/>
          <p:nvPr/>
        </p:nvSpPr>
        <p:spPr>
          <a:xfrm>
            <a:off x="6564213" y="3874257"/>
            <a:ext cx="1330523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History &amp; ZIP Export System</a:t>
            </a:r>
            <a:endParaRPr lang="en-US" sz="7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770381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kern="0" spc="2" dirty="0">
                <a:solidFill>
                  <a:srgbClr val="E0E0E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LIVE DEMO / UI WALKTHROUGH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" y="1663991"/>
            <a:ext cx="178594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7219" y="1853998"/>
            <a:ext cx="964406" cy="3643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0E0E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Interactive Chat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607219" y="2232617"/>
            <a:ext cx="96440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Streamlit-based UI for natural language coding tasks.</a:t>
            </a:r>
            <a:endParaRPr lang="en-US" sz="8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5925" y="1663991"/>
            <a:ext cx="178594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950244" y="1853998"/>
            <a:ext cx="964406" cy="3643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0E0E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Syntax Highlighting</a:t>
            </a:r>
            <a:endParaRPr lang="en-US" sz="1000" dirty="0"/>
          </a:p>
        </p:txBody>
      </p:sp>
      <p:sp>
        <p:nvSpPr>
          <p:cNvPr id="9" name="Text 4"/>
          <p:cNvSpPr/>
          <p:nvPr/>
        </p:nvSpPr>
        <p:spPr>
          <a:xfrm>
            <a:off x="1950244" y="2232617"/>
            <a:ext cx="96440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 code display with multi-language support.</a:t>
            </a:r>
            <a:endParaRPr lang="en-US" sz="8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" y="2561230"/>
            <a:ext cx="142875" cy="1714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71500" y="2751237"/>
            <a:ext cx="100012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0E0E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Agent Status</a:t>
            </a:r>
            <a:endParaRPr lang="en-US" sz="1000" dirty="0"/>
          </a:p>
        </p:txBody>
      </p:sp>
      <p:sp>
        <p:nvSpPr>
          <p:cNvPr id="12" name="Text 6"/>
          <p:cNvSpPr/>
          <p:nvPr/>
        </p:nvSpPr>
        <p:spPr>
          <a:xfrm>
            <a:off x="571500" y="2947690"/>
            <a:ext cx="10001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tracking of each agent phase clearly.</a:t>
            </a:r>
            <a:endParaRPr lang="en-US" sz="8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5925" y="2561230"/>
            <a:ext cx="107156" cy="17145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878806" y="2751237"/>
            <a:ext cx="1035844" cy="3643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0E0E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History &amp; Export</a:t>
            </a:r>
            <a:endParaRPr lang="en-US" sz="1000" dirty="0"/>
          </a:p>
        </p:txBody>
      </p:sp>
      <p:sp>
        <p:nvSpPr>
          <p:cNvPr id="15" name="Text 8"/>
          <p:cNvSpPr/>
          <p:nvPr/>
        </p:nvSpPr>
        <p:spPr>
          <a:xfrm>
            <a:off x="1878806" y="3129855"/>
            <a:ext cx="103584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Sidebar access to past projects and exports.</a:t>
            </a:r>
            <a:endParaRPr lang="en-US" sz="850" dirty="0"/>
          </a:p>
        </p:txBody>
      </p:sp>
      <p:sp>
        <p:nvSpPr>
          <p:cNvPr id="16" name="Shape 9"/>
          <p:cNvSpPr/>
          <p:nvPr/>
        </p:nvSpPr>
        <p:spPr>
          <a:xfrm>
            <a:off x="3471863" y="1663991"/>
            <a:ext cx="5443538" cy="2443163"/>
          </a:xfrm>
          <a:prstGeom prst="rect">
            <a:avLst/>
          </a:prstGeom>
          <a:solidFill>
            <a:srgbClr val="111111"/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7" name="Shape 10"/>
          <p:cNvSpPr/>
          <p:nvPr/>
        </p:nvSpPr>
        <p:spPr>
          <a:xfrm>
            <a:off x="3486150" y="1663991"/>
            <a:ext cx="5429250" cy="29289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Shape 11"/>
          <p:cNvSpPr/>
          <p:nvPr/>
        </p:nvSpPr>
        <p:spPr>
          <a:xfrm>
            <a:off x="3486150" y="1949741"/>
            <a:ext cx="5429250" cy="7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2"/>
          <p:cNvSpPr/>
          <p:nvPr/>
        </p:nvSpPr>
        <p:spPr>
          <a:xfrm>
            <a:off x="3486150" y="1949741"/>
            <a:ext cx="1092994" cy="2143125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20" name="Shape 13"/>
          <p:cNvSpPr/>
          <p:nvPr/>
        </p:nvSpPr>
        <p:spPr>
          <a:xfrm>
            <a:off x="4572000" y="1949741"/>
            <a:ext cx="7144" cy="21431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4"/>
          <p:cNvSpPr/>
          <p:nvPr/>
        </p:nvSpPr>
        <p:spPr>
          <a:xfrm>
            <a:off x="4657725" y="2006891"/>
            <a:ext cx="4171950" cy="278606"/>
          </a:xfrm>
          <a:prstGeom prst="rect">
            <a:avLst/>
          </a:prstGeom>
          <a:solidFill>
            <a:srgbClr val="7000FF">
              <a:alpha val="10000"/>
            </a:srgbClr>
          </a:solidFill>
          <a:ln w="9144">
            <a:solidFill>
              <a:srgbClr val="7000FF">
                <a:alpha val="20000"/>
              </a:srgbClr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4657725" y="2006891"/>
            <a:ext cx="4171950" cy="27860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"Write a Python script to fetch a random joke from an API..."</a:t>
            </a:r>
            <a:endParaRPr lang="en-US" sz="750" dirty="0"/>
          </a:p>
        </p:txBody>
      </p:sp>
      <p:sp>
        <p:nvSpPr>
          <p:cNvPr id="23" name="Shape 16"/>
          <p:cNvSpPr/>
          <p:nvPr/>
        </p:nvSpPr>
        <p:spPr>
          <a:xfrm>
            <a:off x="4657725" y="2328360"/>
            <a:ext cx="4171950" cy="853678"/>
          </a:xfrm>
          <a:prstGeom prst="rect">
            <a:avLst/>
          </a:prstGeom>
          <a:solidFill>
            <a:srgbClr val="000000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4657725" y="2328360"/>
            <a:ext cx="4171950" cy="853678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marL="0" indent="0" algn="l">
              <a:buNone/>
            </a:pPr>
            <a:r>
              <a:rPr lang="en-US" sz="600" dirty="0">
                <a:solidFill>
                  <a:srgbClr val="00F0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import requests
 def get_joke():
url = "https://api.jokes.com/random"
response = requests.get(url)
return response.json()['joke']</a:t>
            </a:r>
            <a:endParaRPr lang="en-US" sz="600" dirty="0"/>
          </a:p>
        </p:txBody>
      </p:sp>
      <p:sp>
        <p:nvSpPr>
          <p:cNvPr id="25" name="Shape 18"/>
          <p:cNvSpPr/>
          <p:nvPr/>
        </p:nvSpPr>
        <p:spPr>
          <a:xfrm>
            <a:off x="4657725" y="3239188"/>
            <a:ext cx="700088" cy="158948"/>
          </a:xfrm>
          <a:prstGeom prst="rect">
            <a:avLst/>
          </a:prstGeom>
          <a:solidFill>
            <a:srgbClr val="00F0FF">
              <a:alpha val="10000"/>
            </a:srgbClr>
          </a:solidFill>
          <a:ln w="9144">
            <a:solidFill>
              <a:srgbClr val="00F0FF">
                <a:alpha val="30000"/>
              </a:srgbClr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4657725" y="3239188"/>
            <a:ext cx="700088" cy="158948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RESEARCHING...</a:t>
            </a:r>
            <a:endParaRPr lang="en-US" sz="500" dirty="0"/>
          </a:p>
        </p:txBody>
      </p:sp>
      <p:sp>
        <p:nvSpPr>
          <p:cNvPr id="27" name="Shape 20"/>
          <p:cNvSpPr/>
          <p:nvPr/>
        </p:nvSpPr>
        <p:spPr>
          <a:xfrm>
            <a:off x="5400675" y="3239188"/>
            <a:ext cx="564356" cy="158948"/>
          </a:xfrm>
          <a:prstGeom prst="rect">
            <a:avLst/>
          </a:prstGeom>
          <a:solidFill>
            <a:srgbClr val="00F0FF">
              <a:alpha val="10000"/>
            </a:srgbClr>
          </a:solidFill>
          <a:ln w="9144">
            <a:solidFill>
              <a:srgbClr val="00F0FF">
                <a:alpha val="30000"/>
              </a:srgbClr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5400675" y="3239188"/>
            <a:ext cx="564356" cy="158948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PLANNING...</a:t>
            </a:r>
            <a:endParaRPr lang="en-US" sz="500" dirty="0"/>
          </a:p>
        </p:txBody>
      </p:sp>
      <p:sp>
        <p:nvSpPr>
          <p:cNvPr id="29" name="Shape 22"/>
          <p:cNvSpPr/>
          <p:nvPr/>
        </p:nvSpPr>
        <p:spPr>
          <a:xfrm>
            <a:off x="6007894" y="3239188"/>
            <a:ext cx="637580" cy="158948"/>
          </a:xfrm>
          <a:prstGeom prst="rect">
            <a:avLst/>
          </a:prstGeom>
          <a:solidFill>
            <a:srgbClr val="27C93F">
              <a:alpha val="20000"/>
            </a:srgbClr>
          </a:solidFill>
          <a:ln w="9144">
            <a:solidFill>
              <a:srgbClr val="27C93F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6007894" y="3239188"/>
            <a:ext cx="637580" cy="158948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marL="0" indent="0" algn="l">
              <a:buNone/>
            </a:pPr>
            <a:r>
              <a:rPr lang="en-US" sz="500" dirty="0">
                <a:solidFill>
                  <a:srgbClr val="27C9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CODING DONE</a:t>
            </a:r>
            <a:endParaRPr lang="en-US" sz="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" y="663364"/>
            <a:ext cx="9144000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100" b="1" kern="0" spc="2" dirty="0">
                <a:solidFill>
                  <a:srgbClr val="E0E0E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HOW IT WORKS (STEP BY STEP)</a:t>
            </a:r>
            <a:endParaRPr lang="en-US" sz="2100" dirty="0"/>
          </a:p>
        </p:txBody>
      </p:sp>
      <p:sp>
        <p:nvSpPr>
          <p:cNvPr id="4" name="Shape 1"/>
          <p:cNvSpPr/>
          <p:nvPr/>
        </p:nvSpPr>
        <p:spPr>
          <a:xfrm>
            <a:off x="1057275" y="1351731"/>
            <a:ext cx="7143750" cy="567928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1057275" y="1351731"/>
            <a:ext cx="28575" cy="567928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6" name="Text 3"/>
          <p:cNvSpPr/>
          <p:nvPr/>
        </p:nvSpPr>
        <p:spPr>
          <a:xfrm>
            <a:off x="1143000" y="1490142"/>
            <a:ext cx="514350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F0FF">
                    <a:alpha val="30000"/>
                  </a:srgbClr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01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4145" y="1563365"/>
            <a:ext cx="160734" cy="1428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100263" y="1537469"/>
            <a:ext cx="6015038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0E0E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User Input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2100263" y="1726778"/>
            <a:ext cx="60150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provides a coding task via the interactive chat interface.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1057275" y="1962522"/>
            <a:ext cx="7143750" cy="567928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1" name="Shape 7"/>
          <p:cNvSpPr/>
          <p:nvPr/>
        </p:nvSpPr>
        <p:spPr>
          <a:xfrm>
            <a:off x="1057275" y="1962522"/>
            <a:ext cx="28575" cy="567928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12" name="Text 8"/>
          <p:cNvSpPr/>
          <p:nvPr/>
        </p:nvSpPr>
        <p:spPr>
          <a:xfrm>
            <a:off x="1143000" y="2100932"/>
            <a:ext cx="514350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F0FF">
                    <a:alpha val="30000"/>
                  </a:srgbClr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02</a:t>
            </a:r>
            <a:endParaRPr lang="en-US" sz="16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3075" y="2174156"/>
            <a:ext cx="142875" cy="1428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100263" y="2148260"/>
            <a:ext cx="6015038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0E0E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Research &amp; Planning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2100263" y="2337569"/>
            <a:ext cx="60150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 gather web data and map out the project architecture.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1057275" y="2573313"/>
            <a:ext cx="7143750" cy="567928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7" name="Shape 12"/>
          <p:cNvSpPr/>
          <p:nvPr/>
        </p:nvSpPr>
        <p:spPr>
          <a:xfrm>
            <a:off x="1057275" y="2573313"/>
            <a:ext cx="28575" cy="567928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18" name="Text 13"/>
          <p:cNvSpPr/>
          <p:nvPr/>
        </p:nvSpPr>
        <p:spPr>
          <a:xfrm>
            <a:off x="1143000" y="2711723"/>
            <a:ext cx="514350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F0FF">
                    <a:alpha val="30000"/>
                  </a:srgbClr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03</a:t>
            </a:r>
            <a:endParaRPr lang="en-US" sz="16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5216" y="2784946"/>
            <a:ext cx="178594" cy="14287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100263" y="2759050"/>
            <a:ext cx="6015038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0E0E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Multi-file Generation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2100263" y="2948360"/>
            <a:ext cx="60150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Agent writes multi-file, multi-language source code.</a:t>
            </a:r>
            <a:endParaRPr lang="en-US" sz="800" dirty="0"/>
          </a:p>
        </p:txBody>
      </p:sp>
      <p:sp>
        <p:nvSpPr>
          <p:cNvPr id="22" name="Shape 16"/>
          <p:cNvSpPr/>
          <p:nvPr/>
        </p:nvSpPr>
        <p:spPr>
          <a:xfrm>
            <a:off x="1057275" y="3184103"/>
            <a:ext cx="7143750" cy="567928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3" name="Shape 17"/>
          <p:cNvSpPr/>
          <p:nvPr/>
        </p:nvSpPr>
        <p:spPr>
          <a:xfrm>
            <a:off x="1057275" y="3184103"/>
            <a:ext cx="28575" cy="567928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24" name="Text 18"/>
          <p:cNvSpPr/>
          <p:nvPr/>
        </p:nvSpPr>
        <p:spPr>
          <a:xfrm>
            <a:off x="1143000" y="3322513"/>
            <a:ext cx="514350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F0FF">
                    <a:alpha val="30000"/>
                  </a:srgbClr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04</a:t>
            </a:r>
            <a:endParaRPr lang="en-US" sz="16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43075" y="3395737"/>
            <a:ext cx="142875" cy="14287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2100263" y="3369841"/>
            <a:ext cx="6015038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0E0E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Review &amp; Sandbox Test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2100263" y="3559150"/>
            <a:ext cx="60150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audit followed by execution in a safe sandbox environment.</a:t>
            </a:r>
            <a:endParaRPr lang="en-US" sz="800" dirty="0"/>
          </a:p>
        </p:txBody>
      </p:sp>
      <p:sp>
        <p:nvSpPr>
          <p:cNvPr id="28" name="Shape 21"/>
          <p:cNvSpPr/>
          <p:nvPr/>
        </p:nvSpPr>
        <p:spPr>
          <a:xfrm>
            <a:off x="1057275" y="3794894"/>
            <a:ext cx="7143750" cy="567928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29" name="Shape 22"/>
          <p:cNvSpPr/>
          <p:nvPr/>
        </p:nvSpPr>
        <p:spPr>
          <a:xfrm>
            <a:off x="1057275" y="3794894"/>
            <a:ext cx="28575" cy="567928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30" name="Text 23"/>
          <p:cNvSpPr/>
          <p:nvPr/>
        </p:nvSpPr>
        <p:spPr>
          <a:xfrm>
            <a:off x="1143000" y="3933304"/>
            <a:ext cx="514350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F0FF">
                    <a:alpha val="30000"/>
                  </a:srgbClr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05</a:t>
            </a:r>
            <a:endParaRPr lang="en-US" sz="160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43075" y="4006528"/>
            <a:ext cx="142875" cy="14287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2100263" y="3980631"/>
            <a:ext cx="6015038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0E0E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Autonomous Recovery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2100263" y="4169941"/>
            <a:ext cx="60150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Dependency and Fix Agents handle failures via the self-healing loop.</a:t>
            </a:r>
            <a:endParaRPr lang="en-US" sz="800" dirty="0"/>
          </a:p>
        </p:txBody>
      </p:sp>
      <p:sp>
        <p:nvSpPr>
          <p:cNvPr id="34" name="Shape 26"/>
          <p:cNvSpPr/>
          <p:nvPr/>
        </p:nvSpPr>
        <p:spPr>
          <a:xfrm>
            <a:off x="1057275" y="4405685"/>
            <a:ext cx="7143750" cy="567928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35" name="Shape 27"/>
          <p:cNvSpPr/>
          <p:nvPr/>
        </p:nvSpPr>
        <p:spPr>
          <a:xfrm>
            <a:off x="1057275" y="4405685"/>
            <a:ext cx="28575" cy="567928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36" name="Text 28"/>
          <p:cNvSpPr/>
          <p:nvPr/>
        </p:nvSpPr>
        <p:spPr>
          <a:xfrm>
            <a:off x="1143000" y="4544095"/>
            <a:ext cx="514350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F0FF">
                    <a:alpha val="30000"/>
                  </a:srgbClr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06</a:t>
            </a:r>
            <a:endParaRPr lang="en-US" sz="1600" dirty="0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60934" y="4617318"/>
            <a:ext cx="107156" cy="142875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2100263" y="4591422"/>
            <a:ext cx="6015038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0E0E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Project Delivery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2100263" y="4780731"/>
            <a:ext cx="60150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README is generated and the project is archived as a ZIP file.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650" y="770381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kern="0" spc="2" dirty="0">
                <a:solidFill>
                  <a:srgbClr val="E0E0E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SELF-HEALING / FIX LOOP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628650" y="1578266"/>
            <a:ext cx="1425178" cy="207169"/>
          </a:xfrm>
          <a:prstGeom prst="rect">
            <a:avLst/>
          </a:prstGeom>
          <a:solidFill>
            <a:srgbClr val="00F0FF">
              <a:alpha val="10000"/>
            </a:srgbClr>
          </a:solidFill>
          <a:ln w="9144">
            <a:solidFill>
              <a:srgbClr val="00F0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28650" y="1578266"/>
            <a:ext cx="1425178" cy="207169"/>
          </a:xfrm>
          <a:prstGeom prst="rect">
            <a:avLst/>
          </a:prstGeom>
          <a:noFill/>
          <a:ln/>
        </p:spPr>
        <p:txBody>
          <a:bodyPr wrap="square" lIns="127508" tIns="42545" rIns="127508" bIns="42545" rtlCol="0" anchor="t">
            <a:spAutoFit/>
          </a:bodyPr>
          <a:lstStyle/>
          <a:p>
            <a:pPr marL="0" indent="0" algn="l">
              <a:buNone/>
            </a:pPr>
            <a:r>
              <a:rPr lang="en-US" sz="700" b="1" kern="0" spc="1" dirty="0">
                <a:solidFill>
                  <a:srgbClr val="00F0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INNOVATIVE FEATURE</a:t>
            </a:r>
            <a:endParaRPr lang="en-US" sz="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1828298"/>
            <a:ext cx="171450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4400" y="2037308"/>
            <a:ext cx="3000375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0E0E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3-Retry Logic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914400" y="2267694"/>
            <a:ext cx="3000375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Autonomous recovery that attempts up to 3 fixes before notifying the user.</a:t>
            </a:r>
            <a:endParaRPr lang="en-US" sz="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2621979"/>
            <a:ext cx="214313" cy="171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57263" y="2830990"/>
            <a:ext cx="2957513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0E0E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Dependency Resolution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957263" y="3061376"/>
            <a:ext cx="2957513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Detects missing packages and triggers automatic pip installs.</a:t>
            </a:r>
            <a:endParaRPr lang="en-US" sz="8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" y="3415661"/>
            <a:ext cx="171450" cy="1714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14400" y="3624672"/>
            <a:ext cx="3000375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0E0E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Logic Self-Correction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914400" y="3855058"/>
            <a:ext cx="3000375" cy="297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 Agent parses error logs and rewrites faulty code autonomously.</a:t>
            </a:r>
            <a:endParaRPr lang="en-US" sz="850" dirty="0"/>
          </a:p>
        </p:txBody>
      </p:sp>
      <p:sp>
        <p:nvSpPr>
          <p:cNvPr id="15" name="Shape 9"/>
          <p:cNvSpPr/>
          <p:nvPr/>
        </p:nvSpPr>
        <p:spPr>
          <a:xfrm>
            <a:off x="4686300" y="1578266"/>
            <a:ext cx="3943350" cy="2443163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0806" y="2426587"/>
            <a:ext cx="428625" cy="42862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307931" y="2940937"/>
            <a:ext cx="71437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E0E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FIX LOOP</a:t>
            </a:r>
            <a:endParaRPr lang="en-US" sz="1200" dirty="0"/>
          </a:p>
        </p:txBody>
      </p:sp>
      <p:sp>
        <p:nvSpPr>
          <p:cNvPr id="18" name="Shape 11"/>
          <p:cNvSpPr/>
          <p:nvPr/>
        </p:nvSpPr>
        <p:spPr>
          <a:xfrm>
            <a:off x="6201668" y="1835441"/>
            <a:ext cx="926902" cy="235744"/>
          </a:xfrm>
          <a:prstGeom prst="rect">
            <a:avLst/>
          </a:prstGeom>
          <a:solidFill>
            <a:srgbClr val="050505"/>
          </a:solidFill>
          <a:ln w="18288">
            <a:solidFill>
              <a:srgbClr val="7000FF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6201668" y="1835441"/>
            <a:ext cx="926902" cy="235744"/>
          </a:xfrm>
          <a:prstGeom prst="rect">
            <a:avLst/>
          </a:prstGeom>
          <a:noFill/>
          <a:ln/>
        </p:spPr>
        <p:txBody>
          <a:bodyPr wrap="none" lIns="85090" tIns="51054" rIns="85090" bIns="51054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Agent Fails</a:t>
            </a:r>
            <a:endParaRPr lang="en-US" sz="750" dirty="0"/>
          </a:p>
        </p:txBody>
      </p:sp>
      <p:sp>
        <p:nvSpPr>
          <p:cNvPr id="20" name="Shape 13"/>
          <p:cNvSpPr/>
          <p:nvPr/>
        </p:nvSpPr>
        <p:spPr>
          <a:xfrm>
            <a:off x="7011591" y="2674832"/>
            <a:ext cx="810816" cy="235744"/>
          </a:xfrm>
          <a:prstGeom prst="rect">
            <a:avLst/>
          </a:prstGeom>
          <a:solidFill>
            <a:srgbClr val="050505"/>
          </a:solidFill>
          <a:ln w="18288">
            <a:solidFill>
              <a:srgbClr val="7000FF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7011591" y="2674832"/>
            <a:ext cx="810816" cy="235744"/>
          </a:xfrm>
          <a:prstGeom prst="rect">
            <a:avLst/>
          </a:prstGeom>
          <a:noFill/>
          <a:ln/>
        </p:spPr>
        <p:txBody>
          <a:bodyPr wrap="none" lIns="85090" tIns="51054" rIns="85090" bIns="51054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 Error</a:t>
            </a:r>
            <a:endParaRPr lang="en-US" sz="750" dirty="0"/>
          </a:p>
        </p:txBody>
      </p:sp>
      <p:sp>
        <p:nvSpPr>
          <p:cNvPr id="22" name="Shape 15"/>
          <p:cNvSpPr/>
          <p:nvPr/>
        </p:nvSpPr>
        <p:spPr>
          <a:xfrm>
            <a:off x="6136481" y="3514223"/>
            <a:ext cx="1057275" cy="235744"/>
          </a:xfrm>
          <a:prstGeom prst="rect">
            <a:avLst/>
          </a:prstGeom>
          <a:solidFill>
            <a:srgbClr val="050505"/>
          </a:solidFill>
          <a:ln w="18288">
            <a:solidFill>
              <a:srgbClr val="7000FF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6136481" y="3514223"/>
            <a:ext cx="1057275" cy="235744"/>
          </a:xfrm>
          <a:prstGeom prst="rect">
            <a:avLst/>
          </a:prstGeom>
          <a:noFill/>
          <a:ln/>
        </p:spPr>
        <p:txBody>
          <a:bodyPr wrap="none" lIns="85090" tIns="51054" rIns="85090" bIns="51054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 Agent Rewrites</a:t>
            </a:r>
            <a:endParaRPr lang="en-US" sz="750" dirty="0"/>
          </a:p>
        </p:txBody>
      </p:sp>
      <p:sp>
        <p:nvSpPr>
          <p:cNvPr id="24" name="Shape 17"/>
          <p:cNvSpPr/>
          <p:nvPr/>
        </p:nvSpPr>
        <p:spPr>
          <a:xfrm>
            <a:off x="5507831" y="2674832"/>
            <a:ext cx="914400" cy="235744"/>
          </a:xfrm>
          <a:prstGeom prst="rect">
            <a:avLst/>
          </a:prstGeom>
          <a:solidFill>
            <a:srgbClr val="050505"/>
          </a:solidFill>
          <a:ln w="18288">
            <a:solidFill>
              <a:srgbClr val="7000FF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5507831" y="2674832"/>
            <a:ext cx="914400" cy="235744"/>
          </a:xfrm>
          <a:prstGeom prst="rect">
            <a:avLst/>
          </a:prstGeom>
          <a:noFill/>
          <a:ln/>
        </p:spPr>
        <p:txBody>
          <a:bodyPr wrap="none" lIns="85090" tIns="51054" rIns="85090" bIns="51054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Retry Execution</a:t>
            </a:r>
            <a:endParaRPr lang="en-US" sz="7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713231"/>
            <a:ext cx="91440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kern="0" spc="2" dirty="0">
                <a:solidFill>
                  <a:srgbClr val="E0E0E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RESULTS &amp; IMPACT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1000125" y="1635416"/>
            <a:ext cx="3514725" cy="1469436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00F0FF">
                <a:alpha val="10000"/>
              </a:srgbClr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1749716"/>
            <a:ext cx="3228975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43000" y="2235491"/>
            <a:ext cx="3228975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E0E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FULL AUTOMATION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1143000" y="2496238"/>
            <a:ext cx="322897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Successfully implemented an end-to-end pipeline that handles research, planning, and multi-file code generation without human intervention.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4629150" y="1635416"/>
            <a:ext cx="3514725" cy="1469436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00F0FF">
                <a:alpha val="10000"/>
              </a:srgbClr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2025" y="1749716"/>
            <a:ext cx="3228975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772025" y="2235491"/>
            <a:ext cx="3228975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E0E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ENHANCED EFFICIENCY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4772025" y="2496238"/>
            <a:ext cx="322897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autonomous self-healing loop significantly reduces manual debugging time by automatically resolving dependencies and logic errors.</a:t>
            </a:r>
            <a:endParaRPr lang="en-US" sz="850" dirty="0"/>
          </a:p>
        </p:txBody>
      </p:sp>
      <p:sp>
        <p:nvSpPr>
          <p:cNvPr id="12" name="Shape 7"/>
          <p:cNvSpPr/>
          <p:nvPr/>
        </p:nvSpPr>
        <p:spPr>
          <a:xfrm>
            <a:off x="1000125" y="3204865"/>
            <a:ext cx="3514725" cy="1469436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00F0FF">
                <a:alpha val="10000"/>
              </a:srgbClr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3319165"/>
            <a:ext cx="3228975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43000" y="3804940"/>
            <a:ext cx="3228975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E0E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SECURITY FIRST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1143000" y="4065687"/>
            <a:ext cx="322897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Integrated security auditing ensures that generated code is scanned for vulnerabilities and refactored for production-grade safety.</a:t>
            </a:r>
            <a:endParaRPr lang="en-US" sz="850" dirty="0"/>
          </a:p>
        </p:txBody>
      </p:sp>
      <p:sp>
        <p:nvSpPr>
          <p:cNvPr id="16" name="Shape 10"/>
          <p:cNvSpPr/>
          <p:nvPr/>
        </p:nvSpPr>
        <p:spPr>
          <a:xfrm>
            <a:off x="4629150" y="3204865"/>
            <a:ext cx="3514725" cy="1469436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00F0FF">
                <a:alpha val="10000"/>
              </a:srgbClr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2025" y="3319165"/>
            <a:ext cx="3228975" cy="2286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772025" y="3804940"/>
            <a:ext cx="3228975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E0E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PROJECT VERSATILITY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4772025" y="4065687"/>
            <a:ext cx="322897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8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support for complex multi-language projects and automatic archiving provides a scalable solution for diverse coding tasks.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13231"/>
            <a:ext cx="8572500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kern="0" spc="2" dirty="0">
                <a:solidFill>
                  <a:srgbClr val="E0E0E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CONCLUSION &amp; FUTURE WORK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571500" y="1606841"/>
            <a:ext cx="3429000" cy="1626989"/>
          </a:xfrm>
          <a:prstGeom prst="rect">
            <a:avLst/>
          </a:prstGeom>
          <a:solidFill>
            <a:srgbClr val="00F0FF">
              <a:alpha val="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71500" y="1606841"/>
            <a:ext cx="28575" cy="1626989"/>
          </a:xfrm>
          <a:prstGeom prst="rect">
            <a:avLst/>
          </a:prstGeom>
          <a:solidFill>
            <a:srgbClr val="00F0FF"/>
          </a:solidFill>
          <a:ln/>
        </p:spPr>
      </p:sp>
      <p:sp>
        <p:nvSpPr>
          <p:cNvPr id="6" name="Text 3"/>
          <p:cNvSpPr/>
          <p:nvPr/>
        </p:nvSpPr>
        <p:spPr>
          <a:xfrm>
            <a:off x="714375" y="1921166"/>
            <a:ext cx="3143250" cy="255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0E0E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Final Conclusion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14375" y="2319431"/>
            <a:ext cx="31432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Successfully developed a production-ready Multi-Agent Coding Assistant that bridges the gap between passive tools and autonomous development.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643438" y="1778291"/>
            <a:ext cx="3929063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kern="0" spc="2" dirty="0">
                <a:solidFill>
                  <a:srgbClr val="7000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FUTURE ROADMAP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43438" y="2124763"/>
            <a:ext cx="3929063" cy="40005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7738" y="2281926"/>
            <a:ext cx="171450" cy="14287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29200" y="2275675"/>
            <a:ext cx="2375297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for GPT-4, Claude, and Gemini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643438" y="2596251"/>
            <a:ext cx="3929063" cy="40005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7738" y="2753413"/>
            <a:ext cx="171450" cy="1428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029200" y="2747163"/>
            <a:ext cx="202168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GitHub Integration &amp; CI/CD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4643438" y="3067738"/>
            <a:ext cx="3929063" cy="40005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7738" y="3224901"/>
            <a:ext cx="171450" cy="14287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029200" y="3218650"/>
            <a:ext cx="248602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 Sandboxing for Secure Execution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4643438" y="3539226"/>
            <a:ext cx="3929063" cy="40005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7738" y="3696388"/>
            <a:ext cx="171450" cy="14287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029200" y="3690138"/>
            <a:ext cx="2357438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Enhanced Multi-file Dependency Logic</a:t>
            </a:r>
            <a:endParaRPr lang="en-US" sz="950" dirty="0"/>
          </a:p>
        </p:txBody>
      </p:sp>
      <p:sp>
        <p:nvSpPr>
          <p:cNvPr id="21" name="Shape 14"/>
          <p:cNvSpPr/>
          <p:nvPr/>
        </p:nvSpPr>
        <p:spPr>
          <a:xfrm>
            <a:off x="4643438" y="4010713"/>
            <a:ext cx="3929063" cy="40005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7738" y="4167876"/>
            <a:ext cx="171450" cy="142875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029200" y="4161625"/>
            <a:ext cx="198239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Voice-to-Code Input Capabilities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57375" y="1318022"/>
            <a:ext cx="5429250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4150" b="1" kern="0" spc="-2" dirty="0">
                <a:solidFill>
                  <a:srgbClr val="E0E0E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THANK YOU</a:t>
            </a:r>
            <a:endParaRPr lang="en-US" sz="4150" dirty="0"/>
          </a:p>
        </p:txBody>
      </p:sp>
      <p:sp>
        <p:nvSpPr>
          <p:cNvPr id="4" name="Text 1"/>
          <p:cNvSpPr/>
          <p:nvPr/>
        </p:nvSpPr>
        <p:spPr>
          <a:xfrm>
            <a:off x="1857375" y="2289572"/>
            <a:ext cx="542925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700" kern="0" spc="1" dirty="0">
                <a:solidFill>
                  <a:srgbClr val="00F0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Questions &amp; Discussion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1857375" y="2973586"/>
            <a:ext cx="542925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00" b="1" kern="0" spc="2" dirty="0">
                <a:solidFill>
                  <a:srgbClr val="7000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PROJECT TEAM</a:t>
            </a:r>
            <a:endParaRPr lang="en-US" sz="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977" y="3234333"/>
            <a:ext cx="157163" cy="1571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079110" y="3448645"/>
            <a:ext cx="87689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Shayan Akram</a:t>
            </a:r>
            <a:endParaRPr lang="en-US" sz="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3176" y="3234333"/>
            <a:ext cx="157163" cy="15716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528092" y="3448645"/>
            <a:ext cx="150733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Muhammad Ayan Husain</a:t>
            </a:r>
            <a:endParaRPr lang="en-US" sz="9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7590" y="3234333"/>
            <a:ext cx="157163" cy="15716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607509" y="3448645"/>
            <a:ext cx="145732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Syed Muhammad Faseh</a:t>
            </a:r>
            <a:endParaRPr lang="en-US" sz="950" dirty="0"/>
          </a:p>
        </p:txBody>
      </p:sp>
      <p:sp>
        <p:nvSpPr>
          <p:cNvPr id="12" name="Text 6"/>
          <p:cNvSpPr/>
          <p:nvPr/>
        </p:nvSpPr>
        <p:spPr>
          <a:xfrm>
            <a:off x="1857375" y="3775472"/>
            <a:ext cx="542925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750" kern="0" spc="1" dirty="0">
                <a:solidFill>
                  <a:srgbClr val="B0B0B0">
                    <a:alpha val="4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MULTI-AGENT CODING ASSISTANT | AGENTIC AI 2026</a:t>
            </a:r>
            <a:endParaRPr lang="en-US" sz="7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836</Words>
  <Application>Microsoft Office PowerPoint</Application>
  <PresentationFormat>On-screen Show (16:9)</PresentationFormat>
  <Paragraphs>171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Inter</vt:lpstr>
      <vt:lpstr>Inter Light</vt:lpstr>
      <vt:lpstr>monospace</vt:lpstr>
      <vt:lpstr>Space Grotesk Bold</vt:lpstr>
      <vt:lpstr>Space Grotesk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Shayan</cp:lastModifiedBy>
  <cp:revision>2</cp:revision>
  <dcterms:created xsi:type="dcterms:W3CDTF">2026-05-30T18:10:59Z</dcterms:created>
  <dcterms:modified xsi:type="dcterms:W3CDTF">2026-05-30T18:17:54Z</dcterms:modified>
</cp:coreProperties>
</file>